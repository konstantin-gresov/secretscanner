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5143500" cy="9144000"/>
  <p:embeddedFontLst>
    <p:embeddedFont>
      <p:font typeface="IBM Plex Sans"/>
      <p:regular r:id="rId14"/>
      <p:bold r:id="rId15"/>
      <p:italic r:id="rId16"/>
      <p:boldItalic r:id="rId17"/>
    </p:embeddedFont>
    <p:embeddedFont>
      <p:font typeface="Comfortaa SemiBold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IBM Plex Sans Medium"/>
      <p:regular r:id="rId24"/>
      <p:bold r:id="rId25"/>
      <p:italic r:id="rId26"/>
      <p:boldItalic r:id="rId27"/>
    </p:embeddedFont>
    <p:embeddedFont>
      <p:font typeface="Comforta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63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20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63"/>
        <p:guide pos="3840"/>
        <p:guide pos="220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IBMPlexSansMedium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BMPlexSansMedium-italic.fntdata"/><Relationship Id="rId25" Type="http://schemas.openxmlformats.org/officeDocument/2006/relationships/font" Target="fonts/IBMPlexSansMedium-bold.fntdata"/><Relationship Id="rId28" Type="http://schemas.openxmlformats.org/officeDocument/2006/relationships/font" Target="fonts/Comfortaa-regular.fntdata"/><Relationship Id="rId27" Type="http://schemas.openxmlformats.org/officeDocument/2006/relationships/font" Target="fonts/IBMPlexSans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mforta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IBMPlexSans-bold.fntdata"/><Relationship Id="rId14" Type="http://schemas.openxmlformats.org/officeDocument/2006/relationships/font" Target="fonts/IBMPlexSans-regular.fntdata"/><Relationship Id="rId17" Type="http://schemas.openxmlformats.org/officeDocument/2006/relationships/font" Target="fonts/IBMPlexSans-boldItalic.fntdata"/><Relationship Id="rId16" Type="http://schemas.openxmlformats.org/officeDocument/2006/relationships/font" Target="fonts/IBMPlexSans-italic.fntdata"/><Relationship Id="rId19" Type="http://schemas.openxmlformats.org/officeDocument/2006/relationships/font" Target="fonts/ComfortaaSemiBold-bold.fntdata"/><Relationship Id="rId18" Type="http://schemas.openxmlformats.org/officeDocument/2006/relationships/font" Target="fonts/Comfortaa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IBM Plex Sans"/>
              <a:buNone/>
            </a:pPr>
            <a:fld id="{00000000-1234-1234-1234-123412341234}" type="slidenum">
              <a:rPr b="0" i="0" lang="ru-RU" sz="1200" u="none" cap="none" strike="noStrik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de3e8c451_2_25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cde3e8c451_2_25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de3e8c451_2_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" name="Google Shape;133;g3cde3e8c451_2_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g3cde3e8c451_2_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нутренний слайд">
  <p:cSld name="Внутренний слайд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587375" y="421946"/>
            <a:ext cx="56515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IBM Plex Sans"/>
              <a:buNone/>
              <a:defRPr b="0" i="0" sz="4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352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6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24">
          <p15:clr>
            <a:srgbClr val="FBAE40"/>
          </p15:clr>
        </p15:guide>
        <p15:guide id="2" orient="horz" pos="5389">
          <p15:clr>
            <a:srgbClr val="FBAE40"/>
          </p15:clr>
        </p15:guide>
        <p15:guide id="3" orient="horz" pos="551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нутренний слайд белый">
  <p:cSld name="Внутренний слайд белый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idx="1" type="body"/>
          </p:nvPr>
        </p:nvSpPr>
        <p:spPr>
          <a:xfrm>
            <a:off x="587375" y="421946"/>
            <a:ext cx="5651500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IBM Plex Sans"/>
              <a:buNone/>
              <a:defRPr b="0" i="0" sz="44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352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6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24">
          <p15:clr>
            <a:srgbClr val="FBAE40"/>
          </p15:clr>
        </p15:guide>
        <p15:guide id="2" orient="horz" pos="5389">
          <p15:clr>
            <a:srgbClr val="FBAE40"/>
          </p15:clr>
        </p15:guide>
        <p15:guide id="3" orient="horz" pos="551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001 Пустой">
  <p:cSld name="2_001 Пустой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BEFF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5"/>
          <p:cNvSpPr/>
          <p:nvPr>
            <p:ph idx="2" type="pic"/>
          </p:nvPr>
        </p:nvSpPr>
        <p:spPr>
          <a:xfrm>
            <a:off x="609600" y="4473800"/>
            <a:ext cx="1800000" cy="18000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bg>
      <p:bgPr>
        <a:solidFill>
          <a:schemeClr val="lt2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idx="12" type="sldNum"/>
          </p:nvPr>
        </p:nvSpPr>
        <p:spPr>
          <a:xfrm>
            <a:off x="8885851" y="6363920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algn="r">
              <a:spcBef>
                <a:spcPts val="0"/>
              </a:spcBef>
              <a:buNone/>
              <a:defRPr b="0" i="0" sz="1200">
                <a:solidFill>
                  <a:srgbClr val="7D7D7D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ложка">
  <p:cSld name="Обложка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>
            <p:ph idx="1" type="body"/>
          </p:nvPr>
        </p:nvSpPr>
        <p:spPr>
          <a:xfrm>
            <a:off x="2334916" y="5251782"/>
            <a:ext cx="34528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BM Plex Sans"/>
              <a:buNone/>
              <a:defRPr b="0" i="0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440"/>
              <a:buFont typeface="IBM Plex Sans"/>
              <a:buNone/>
              <a:defRPr/>
            </a:lvl2pPr>
            <a:lvl3pPr indent="-302894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2" type="body"/>
          </p:nvPr>
        </p:nvSpPr>
        <p:spPr>
          <a:xfrm>
            <a:off x="2334916" y="5608391"/>
            <a:ext cx="3452897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BM Plex Sans"/>
              <a:buNone/>
              <a:defRPr b="0" i="0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440"/>
              <a:buFont typeface="IBM Plex Sans"/>
              <a:buNone/>
              <a:defRPr/>
            </a:lvl2pPr>
            <a:lvl3pPr indent="-302894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3" type="body"/>
          </p:nvPr>
        </p:nvSpPr>
        <p:spPr>
          <a:xfrm>
            <a:off x="558045" y="2442457"/>
            <a:ext cx="4826547" cy="1289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IBM Plex Sans"/>
              <a:buNone/>
              <a:defRPr b="0" i="0" sz="5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3840"/>
              <a:buFont typeface="IBM Plex Sans"/>
              <a:buNone/>
              <a:defRPr sz="4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20"/>
              <a:buFont typeface="Arial"/>
              <a:buNone/>
              <a:defRPr sz="4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7"/>
          <p:cNvSpPr/>
          <p:nvPr>
            <p:ph idx="4" type="pic"/>
          </p:nvPr>
        </p:nvSpPr>
        <p:spPr>
          <a:xfrm>
            <a:off x="614533" y="4833800"/>
            <a:ext cx="1440000" cy="144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4" name="Google Shape;24;p7"/>
          <p:cNvSpPr/>
          <p:nvPr>
            <p:ph idx="5" type="pic"/>
          </p:nvPr>
        </p:nvSpPr>
        <p:spPr>
          <a:xfrm>
            <a:off x="6107458" y="0"/>
            <a:ext cx="6096001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Обложка">
  <p:cSld name="1_Обложка">
    <p:bg>
      <p:bgPr>
        <a:solidFill>
          <a:srgbClr val="EBF0F3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idx="1" type="body"/>
          </p:nvPr>
        </p:nvSpPr>
        <p:spPr>
          <a:xfrm>
            <a:off x="2334916" y="5251782"/>
            <a:ext cx="345289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BM Plex Sans"/>
              <a:buNone/>
              <a:defRPr b="0" i="0" sz="20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440"/>
              <a:buFont typeface="IBM Plex Sans"/>
              <a:buNone/>
              <a:defRPr/>
            </a:lvl2pPr>
            <a:lvl3pPr indent="-302894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2" type="body"/>
          </p:nvPr>
        </p:nvSpPr>
        <p:spPr>
          <a:xfrm>
            <a:off x="2334916" y="5608391"/>
            <a:ext cx="3452897" cy="2492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BM Plex Sans"/>
              <a:buNone/>
              <a:defRPr b="0" i="0" sz="18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440"/>
              <a:buFont typeface="IBM Plex Sans"/>
              <a:buNone/>
              <a:defRPr/>
            </a:lvl2pPr>
            <a:lvl3pPr indent="-302894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3" type="body"/>
          </p:nvPr>
        </p:nvSpPr>
        <p:spPr>
          <a:xfrm>
            <a:off x="558045" y="2442457"/>
            <a:ext cx="4826547" cy="1289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IBM Plex Sans"/>
              <a:buNone/>
              <a:defRPr b="0" i="0" sz="52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3840"/>
              <a:buFont typeface="IBM Plex Sans"/>
              <a:buNone/>
              <a:defRPr sz="4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20"/>
              <a:buFont typeface="Arial"/>
              <a:buNone/>
              <a:defRPr sz="4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/>
          <p:nvPr>
            <p:ph idx="4" type="pic"/>
          </p:nvPr>
        </p:nvSpPr>
        <p:spPr>
          <a:xfrm>
            <a:off x="614533" y="4833800"/>
            <a:ext cx="1440000" cy="1440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" name="Google Shape;30;p8"/>
          <p:cNvSpPr/>
          <p:nvPr>
            <p:ph idx="5" type="pic"/>
          </p:nvPr>
        </p:nvSpPr>
        <p:spPr>
          <a:xfrm>
            <a:off x="6107458" y="0"/>
            <a:ext cx="6096001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онтакты - закрывающий">
  <p:cSld name="Контакты - закрывающий">
    <p:bg>
      <p:bgPr>
        <a:solidFill>
          <a:srgbClr val="EBF0F3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>
            <p:ph idx="2" type="pic"/>
          </p:nvPr>
        </p:nvSpPr>
        <p:spPr>
          <a:xfrm>
            <a:off x="5829229" y="3513495"/>
            <a:ext cx="1824627" cy="276999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9"/>
          <p:cNvSpPr/>
          <p:nvPr>
            <p:ph idx="3" type="pic"/>
          </p:nvPr>
        </p:nvSpPr>
        <p:spPr>
          <a:xfrm>
            <a:off x="2703528" y="1600456"/>
            <a:ext cx="2642400" cy="306467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" name="Google Shape;34;p9"/>
          <p:cNvSpPr txBox="1"/>
          <p:nvPr>
            <p:ph idx="1" type="body"/>
          </p:nvPr>
        </p:nvSpPr>
        <p:spPr>
          <a:xfrm>
            <a:off x="5829230" y="1944507"/>
            <a:ext cx="56102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  <a:defRPr b="1" sz="2400">
                <a:solidFill>
                  <a:srgbClr val="00000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44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4" type="body"/>
          </p:nvPr>
        </p:nvSpPr>
        <p:spPr>
          <a:xfrm>
            <a:off x="5829302" y="2508723"/>
            <a:ext cx="3400425" cy="618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>
                <a:solidFill>
                  <a:srgbClr val="000000"/>
                </a:solidFill>
              </a:defRPr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440"/>
              <a:buChar char="•"/>
              <a:defRPr/>
            </a:lvl2pPr>
            <a:lvl3pPr indent="-302894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824">
          <p15:clr>
            <a:srgbClr val="FBAE40"/>
          </p15:clr>
        </p15:guide>
        <p15:guide id="2" orient="horz" pos="5389">
          <p15:clr>
            <a:srgbClr val="FBAE40"/>
          </p15:clr>
        </p15:guide>
        <p15:guide id="3" orient="horz" pos="551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кстовый">
  <p:cSld name="Текстовый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587375" y="1201293"/>
            <a:ext cx="11017250" cy="294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20525"/>
              </a:buClr>
              <a:buSzPts val="1800"/>
              <a:buFont typeface="Arial"/>
              <a:buNone/>
              <a:defRPr sz="1800">
                <a:solidFill>
                  <a:srgbClr val="02052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004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440"/>
              <a:buChar char="•"/>
              <a:defRPr/>
            </a:lvl2pPr>
            <a:lvl3pPr indent="-302894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586001" y="474130"/>
            <a:ext cx="11018624" cy="398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0525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2052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10"/>
          <p:cNvSpPr/>
          <p:nvPr/>
        </p:nvSpPr>
        <p:spPr>
          <a:xfrm>
            <a:off x="587154" y="6422332"/>
            <a:ext cx="557698" cy="144000"/>
          </a:xfrm>
          <a:custGeom>
            <a:rect b="b" l="l" r="r" t="t"/>
            <a:pathLst>
              <a:path extrusionOk="0" h="351328" w="1360664">
                <a:moveTo>
                  <a:pt x="336523" y="6698"/>
                </a:moveTo>
                <a:lnTo>
                  <a:pt x="473765" y="6698"/>
                </a:lnTo>
                <a:cubicBezTo>
                  <a:pt x="569763" y="6698"/>
                  <a:pt x="622521" y="58281"/>
                  <a:pt x="622521" y="132659"/>
                </a:cubicBezTo>
                <a:cubicBezTo>
                  <a:pt x="622521" y="207037"/>
                  <a:pt x="567648" y="260030"/>
                  <a:pt x="470005" y="260030"/>
                </a:cubicBezTo>
                <a:lnTo>
                  <a:pt x="415367" y="260030"/>
                </a:lnTo>
                <a:lnTo>
                  <a:pt x="415367" y="347569"/>
                </a:lnTo>
                <a:lnTo>
                  <a:pt x="336758" y="347569"/>
                </a:lnTo>
                <a:lnTo>
                  <a:pt x="336758" y="6698"/>
                </a:lnTo>
                <a:lnTo>
                  <a:pt x="336523" y="6698"/>
                </a:lnTo>
                <a:close/>
                <a:moveTo>
                  <a:pt x="651192" y="176134"/>
                </a:moveTo>
                <a:cubicBezTo>
                  <a:pt x="651192" y="70853"/>
                  <a:pt x="735088" y="0"/>
                  <a:pt x="829911" y="0"/>
                </a:cubicBezTo>
                <a:cubicBezTo>
                  <a:pt x="924735" y="0"/>
                  <a:pt x="1008748" y="67798"/>
                  <a:pt x="1008748" y="176134"/>
                </a:cubicBezTo>
                <a:cubicBezTo>
                  <a:pt x="1008748" y="284471"/>
                  <a:pt x="926850" y="352269"/>
                  <a:pt x="829911" y="352269"/>
                </a:cubicBezTo>
                <a:cubicBezTo>
                  <a:pt x="732973" y="352387"/>
                  <a:pt x="651192" y="281533"/>
                  <a:pt x="651192" y="176134"/>
                </a:cubicBezTo>
                <a:lnTo>
                  <a:pt x="651192" y="176134"/>
                </a:lnTo>
                <a:close/>
                <a:moveTo>
                  <a:pt x="829911" y="279536"/>
                </a:moveTo>
                <a:cubicBezTo>
                  <a:pt x="769750" y="279536"/>
                  <a:pt x="731798" y="232653"/>
                  <a:pt x="731798" y="176252"/>
                </a:cubicBezTo>
                <a:cubicBezTo>
                  <a:pt x="731798" y="119851"/>
                  <a:pt x="769398" y="72968"/>
                  <a:pt x="829911" y="72968"/>
                </a:cubicBezTo>
                <a:cubicBezTo>
                  <a:pt x="890424" y="72968"/>
                  <a:pt x="928025" y="119264"/>
                  <a:pt x="928025" y="176252"/>
                </a:cubicBezTo>
                <a:cubicBezTo>
                  <a:pt x="927907" y="233240"/>
                  <a:pt x="889954" y="279536"/>
                  <a:pt x="829911" y="279536"/>
                </a:cubicBezTo>
                <a:lnTo>
                  <a:pt x="829911" y="279536"/>
                </a:lnTo>
                <a:close/>
                <a:moveTo>
                  <a:pt x="1140467" y="156277"/>
                </a:moveTo>
                <a:lnTo>
                  <a:pt x="1263608" y="6698"/>
                </a:lnTo>
                <a:lnTo>
                  <a:pt x="1355964" y="6698"/>
                </a:lnTo>
                <a:lnTo>
                  <a:pt x="1217900" y="168262"/>
                </a:lnTo>
                <a:lnTo>
                  <a:pt x="1361017" y="347569"/>
                </a:lnTo>
                <a:lnTo>
                  <a:pt x="1261023" y="347569"/>
                </a:lnTo>
                <a:lnTo>
                  <a:pt x="1140467" y="192115"/>
                </a:lnTo>
                <a:lnTo>
                  <a:pt x="1140467" y="347451"/>
                </a:lnTo>
                <a:lnTo>
                  <a:pt x="1061859" y="347451"/>
                </a:lnTo>
                <a:lnTo>
                  <a:pt x="1061859" y="6698"/>
                </a:lnTo>
                <a:lnTo>
                  <a:pt x="1140467" y="6698"/>
                </a:lnTo>
                <a:lnTo>
                  <a:pt x="1140467" y="156277"/>
                </a:lnTo>
                <a:lnTo>
                  <a:pt x="1140467" y="156277"/>
                </a:lnTo>
                <a:close/>
                <a:moveTo>
                  <a:pt x="78608" y="156277"/>
                </a:moveTo>
                <a:lnTo>
                  <a:pt x="201750" y="6698"/>
                </a:lnTo>
                <a:lnTo>
                  <a:pt x="294106" y="6698"/>
                </a:lnTo>
                <a:lnTo>
                  <a:pt x="156042" y="168262"/>
                </a:lnTo>
                <a:lnTo>
                  <a:pt x="299158" y="347569"/>
                </a:lnTo>
                <a:lnTo>
                  <a:pt x="199282" y="347569"/>
                </a:lnTo>
                <a:lnTo>
                  <a:pt x="78608" y="192115"/>
                </a:lnTo>
                <a:lnTo>
                  <a:pt x="78608" y="347451"/>
                </a:lnTo>
                <a:lnTo>
                  <a:pt x="0" y="347451"/>
                </a:lnTo>
                <a:lnTo>
                  <a:pt x="0" y="6698"/>
                </a:lnTo>
                <a:lnTo>
                  <a:pt x="78608" y="6698"/>
                </a:lnTo>
                <a:lnTo>
                  <a:pt x="78608" y="156277"/>
                </a:lnTo>
                <a:lnTo>
                  <a:pt x="78608" y="156277"/>
                </a:lnTo>
                <a:close/>
                <a:moveTo>
                  <a:pt x="415132" y="75671"/>
                </a:moveTo>
                <a:lnTo>
                  <a:pt x="415132" y="192350"/>
                </a:lnTo>
                <a:lnTo>
                  <a:pt x="462132" y="192350"/>
                </a:lnTo>
                <a:cubicBezTo>
                  <a:pt x="518650" y="192350"/>
                  <a:pt x="541681" y="169437"/>
                  <a:pt x="541681" y="132777"/>
                </a:cubicBezTo>
                <a:cubicBezTo>
                  <a:pt x="541681" y="103636"/>
                  <a:pt x="522998" y="75553"/>
                  <a:pt x="466715" y="75553"/>
                </a:cubicBezTo>
                <a:lnTo>
                  <a:pt x="415132" y="75553"/>
                </a:lnTo>
                <a:lnTo>
                  <a:pt x="415132" y="7567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885851" y="6363920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042">
          <p15:clr>
            <a:srgbClr val="FBAE40"/>
          </p15:clr>
        </p15:guide>
        <p15:guide id="2" orient="horz" pos="413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597152" y="1549930"/>
            <a:ext cx="6266603" cy="618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91919"/>
              </a:buClr>
              <a:buSzPts val="1440"/>
              <a:buFont typeface="Arial"/>
              <a:buChar char="•"/>
              <a:defRPr b="0" i="0" sz="18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302894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525"/>
              </a:buClr>
              <a:buSzPts val="117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8885851" y="6363920"/>
            <a:ext cx="27432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sp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63">
          <p15:clr>
            <a:srgbClr val="F26B43"/>
          </p15:clr>
        </p15:guide>
        <p15:guide id="2" pos="9747">
          <p15:clr>
            <a:srgbClr val="F26B43"/>
          </p15:clr>
        </p15:guide>
        <p15:guide id="3" orient="horz" pos="5269">
          <p15:clr>
            <a:srgbClr val="F26B43"/>
          </p15:clr>
        </p15:guide>
        <p15:guide id="4" orient="horz" pos="3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7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CEE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0050" y="-381045"/>
            <a:ext cx="7476264" cy="49299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7" name="Google Shape;4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858855" y="1933750"/>
            <a:ext cx="8296717" cy="543684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 txBox="1"/>
          <p:nvPr/>
        </p:nvSpPr>
        <p:spPr>
          <a:xfrm>
            <a:off x="947040" y="2192816"/>
            <a:ext cx="56730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867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Secret Scanner</a:t>
            </a:r>
            <a:endParaRPr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49" name="Google Shape;4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3040" y="280549"/>
            <a:ext cx="1352936" cy="34279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/>
        </p:nvSpPr>
        <p:spPr>
          <a:xfrm>
            <a:off x="7914850" y="5952975"/>
            <a:ext cx="4277100" cy="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rPr>
              <a:t>Подготовлено командой 505</a:t>
            </a:r>
            <a:br>
              <a:rPr lang="ru-RU" sz="1800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ru-RU" sz="1800">
                <a:solidFill>
                  <a:srgbClr val="191919"/>
                </a:solidFill>
                <a:latin typeface="IBM Plex Sans"/>
                <a:ea typeface="IBM Plex Sans"/>
                <a:cs typeface="IBM Plex Sans"/>
                <a:sym typeface="IBM Plex Sans"/>
              </a:rPr>
              <a:t>Гресов Константин</a:t>
            </a:r>
            <a:endParaRPr sz="1800">
              <a:solidFill>
                <a:srgbClr val="19191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1" name="Google Shape;51;p11" title="qrcod_bQ6a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14849" y="1641325"/>
            <a:ext cx="3575349" cy="357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CEE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/>
          <p:nvPr/>
        </p:nvSpPr>
        <p:spPr>
          <a:xfrm>
            <a:off x="0" y="1175240"/>
            <a:ext cx="12192000" cy="5778000"/>
          </a:xfrm>
          <a:prstGeom prst="round1Rect">
            <a:avLst>
              <a:gd fmla="val 16667" name="adj"/>
            </a:avLst>
          </a:prstGeom>
          <a:gradFill>
            <a:gsLst>
              <a:gs pos="0">
                <a:srgbClr val="72E553"/>
              </a:gs>
              <a:gs pos="63000">
                <a:srgbClr val="C1EF94"/>
              </a:gs>
              <a:gs pos="100000">
                <a:srgbClr val="C1EF94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2"/>
          <p:cNvSpPr/>
          <p:nvPr/>
        </p:nvSpPr>
        <p:spPr>
          <a:xfrm>
            <a:off x="-3688310" y="3071480"/>
            <a:ext cx="2757669" cy="7150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1315498" y="421950"/>
            <a:ext cx="6743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IBM Plex Sans"/>
              <a:buNone/>
            </a:pPr>
            <a:r>
              <a:rPr lang="ru-RU"/>
              <a:t>Базовый функционал</a:t>
            </a:r>
            <a:endParaRPr/>
          </a:p>
        </p:txBody>
      </p:sp>
      <p:sp>
        <p:nvSpPr>
          <p:cNvPr id="60" name="Google Shape;60;p12"/>
          <p:cNvSpPr txBox="1"/>
          <p:nvPr/>
        </p:nvSpPr>
        <p:spPr>
          <a:xfrm>
            <a:off x="0" y="2307300"/>
            <a:ext cx="2428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3E3E3E"/>
                </a:solidFill>
                <a:latin typeface="IBM Plex Sans"/>
                <a:ea typeface="IBM Plex Sans"/>
                <a:cs typeface="IBM Plex Sans"/>
                <a:sym typeface="IBM Plex Sans"/>
              </a:rPr>
              <a:t>Сканирование локальной директории по регулярным выражениям</a:t>
            </a:r>
            <a:endParaRPr sz="2400">
              <a:solidFill>
                <a:srgbClr val="3E3E3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2586857" y="2376742"/>
            <a:ext cx="29199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3E3E3E"/>
                </a:solidFill>
                <a:latin typeface="IBM Plex Sans"/>
                <a:ea typeface="IBM Plex Sans"/>
                <a:cs typeface="IBM Plex Sans"/>
                <a:sym typeface="IBM Plex Sans"/>
              </a:rPr>
              <a:t>Использование AST-анализа для поиска потенциальных секретов, даже если они не подходят под стандартные regex</a:t>
            </a:r>
            <a:endParaRPr sz="2400">
              <a:solidFill>
                <a:srgbClr val="3E3E3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" name="Google Shape;62;p12"/>
          <p:cNvSpPr txBox="1"/>
          <p:nvPr/>
        </p:nvSpPr>
        <p:spPr>
          <a:xfrm>
            <a:off x="5978299" y="2376742"/>
            <a:ext cx="24483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3E3E3E"/>
                </a:solidFill>
                <a:latin typeface="IBM Plex Sans"/>
                <a:ea typeface="IBM Plex Sans"/>
                <a:cs typeface="IBM Plex Sans"/>
                <a:sym typeface="IBM Plex Sans"/>
              </a:rPr>
              <a:t>Анализ энтропии строк и использование warning для base64-строк и меньшего шума</a:t>
            </a:r>
            <a:endParaRPr sz="2400">
              <a:solidFill>
                <a:srgbClr val="3E3E3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3" name="Google Shape;63;p12"/>
          <p:cNvSpPr txBox="1"/>
          <p:nvPr/>
        </p:nvSpPr>
        <p:spPr>
          <a:xfrm>
            <a:off x="9096975" y="2307150"/>
            <a:ext cx="29199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>
                <a:solidFill>
                  <a:srgbClr val="3E3E3E"/>
                </a:solidFill>
                <a:latin typeface="IBM Plex Sans"/>
                <a:ea typeface="IBM Plex Sans"/>
                <a:cs typeface="IBM Plex Sans"/>
                <a:sym typeface="IBM Plex Sans"/>
              </a:rPr>
              <a:t>Гибкая настройка правил: regex, правила игнорирования, </a:t>
            </a:r>
            <a:endParaRPr sz="2400">
              <a:solidFill>
                <a:srgbClr val="3E3E3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4" name="Google Shape;64;p12"/>
          <p:cNvSpPr txBox="1"/>
          <p:nvPr/>
        </p:nvSpPr>
        <p:spPr>
          <a:xfrm>
            <a:off x="468030" y="1383745"/>
            <a:ext cx="137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rgbClr val="3E3E3E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4400">
              <a:solidFill>
                <a:srgbClr val="3E3E3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5" name="Google Shape;65;p12"/>
          <p:cNvSpPr txBox="1"/>
          <p:nvPr/>
        </p:nvSpPr>
        <p:spPr>
          <a:xfrm>
            <a:off x="2586936" y="1383808"/>
            <a:ext cx="2919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rgbClr val="3E3E3E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4400">
              <a:solidFill>
                <a:srgbClr val="3E3E3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66;p12"/>
          <p:cNvSpPr txBox="1"/>
          <p:nvPr/>
        </p:nvSpPr>
        <p:spPr>
          <a:xfrm>
            <a:off x="5978340" y="1383858"/>
            <a:ext cx="2448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rgbClr val="3E3E3E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4400">
              <a:solidFill>
                <a:srgbClr val="3E3E3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8974881" y="1383908"/>
            <a:ext cx="223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400">
                <a:solidFill>
                  <a:srgbClr val="3E3E3E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sz="4400">
              <a:solidFill>
                <a:srgbClr val="3E3E3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reencoded.png" id="68" name="Google Shape;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99" y="505886"/>
            <a:ext cx="519701" cy="5035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9" name="Google Shape;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398886">
            <a:off x="9702485" y="-253808"/>
            <a:ext cx="1028588" cy="1190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CE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/>
          <p:nvPr/>
        </p:nvSpPr>
        <p:spPr>
          <a:xfrm>
            <a:off x="353975" y="1308100"/>
            <a:ext cx="11523900" cy="5118000"/>
          </a:xfrm>
          <a:prstGeom prst="roundRect">
            <a:avLst>
              <a:gd fmla="val 606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4345476" y="4149954"/>
            <a:ext cx="3558541" cy="1998700"/>
          </a:xfrm>
          <a:prstGeom prst="round2DiagRect">
            <a:avLst>
              <a:gd fmla="val 16667" name="adj1"/>
              <a:gd fmla="val 0" name="adj2"/>
            </a:avLst>
          </a:prstGeom>
          <a:gradFill>
            <a:gsLst>
              <a:gs pos="0">
                <a:srgbClr val="72E553"/>
              </a:gs>
              <a:gs pos="33000">
                <a:srgbClr val="72E553"/>
              </a:gs>
              <a:gs pos="100000">
                <a:srgbClr val="C1EF94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/>
          <p:nvPr/>
        </p:nvSpPr>
        <p:spPr>
          <a:xfrm>
            <a:off x="4339125" y="1556649"/>
            <a:ext cx="3558600" cy="2421900"/>
          </a:xfrm>
          <a:prstGeom prst="roundRect">
            <a:avLst>
              <a:gd fmla="val 16667" name="adj"/>
            </a:avLst>
          </a:prstGeom>
          <a:solidFill>
            <a:srgbClr val="EBEC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3"/>
          <p:cNvSpPr/>
          <p:nvPr/>
        </p:nvSpPr>
        <p:spPr>
          <a:xfrm>
            <a:off x="8074325" y="1556650"/>
            <a:ext cx="3558300" cy="4589100"/>
          </a:xfrm>
          <a:prstGeom prst="round2DiagRect">
            <a:avLst>
              <a:gd fmla="val 8852" name="adj1"/>
              <a:gd fmla="val 0" name="adj2"/>
            </a:avLst>
          </a:prstGeom>
          <a:solidFill>
            <a:srgbClr val="5D4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3"/>
          <p:cNvSpPr/>
          <p:nvPr/>
        </p:nvSpPr>
        <p:spPr>
          <a:xfrm>
            <a:off x="606875" y="1556648"/>
            <a:ext cx="3555600" cy="2485200"/>
          </a:xfrm>
          <a:prstGeom prst="round1Rect">
            <a:avLst>
              <a:gd fmla="val 16667" name="adj"/>
            </a:avLst>
          </a:prstGeom>
          <a:gradFill>
            <a:gsLst>
              <a:gs pos="0">
                <a:srgbClr val="72E553"/>
              </a:gs>
              <a:gs pos="63000">
                <a:srgbClr val="C1EF94"/>
              </a:gs>
              <a:gs pos="100000">
                <a:srgbClr val="C1EF94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3"/>
          <p:cNvSpPr/>
          <p:nvPr/>
        </p:nvSpPr>
        <p:spPr>
          <a:xfrm>
            <a:off x="1473202" y="431800"/>
            <a:ext cx="9251951" cy="9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4548677" y="4371904"/>
            <a:ext cx="3105151" cy="1324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"/>
          <p:cNvSpPr/>
          <p:nvPr/>
        </p:nvSpPr>
        <p:spPr>
          <a:xfrm>
            <a:off x="817417" y="2428804"/>
            <a:ext cx="2012951" cy="1324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817417" y="4368912"/>
            <a:ext cx="2952751" cy="132476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3"/>
          <p:cNvSpPr/>
          <p:nvPr/>
        </p:nvSpPr>
        <p:spPr>
          <a:xfrm>
            <a:off x="614216" y="4146953"/>
            <a:ext cx="3562075" cy="1998700"/>
          </a:xfrm>
          <a:prstGeom prst="roundRect">
            <a:avLst>
              <a:gd fmla="val 14462" name="adj"/>
            </a:avLst>
          </a:prstGeom>
          <a:solidFill>
            <a:srgbClr val="5D45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8204346" y="1737078"/>
            <a:ext cx="3289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Облегчаем жизнь DevSecOps:</a:t>
            </a:r>
            <a:b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Код даёт возможность сканировать </a:t>
            </a:r>
            <a:r>
              <a:rPr b="1"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удалённые репозитории по URL</a:t>
            </a:r>
            <a: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, без необходимости клонировать их вручную.</a:t>
            </a:r>
            <a:b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Более того, на GitHub проекта содержится </a:t>
            </a:r>
            <a:r>
              <a:rPr b="1"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Dockerfile, </a:t>
            </a:r>
            <a: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а в README проекта - ссылка на DockerHub. У проекта есть готовый </a:t>
            </a:r>
            <a:r>
              <a:rPr b="1"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Docker-образ: </a:t>
            </a:r>
            <a: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его можно развернуть везде, даже без предварительной установки Python, что подходит под требования </a:t>
            </a:r>
            <a:r>
              <a:rPr b="1"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CI/CD.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487724" y="4371900"/>
            <a:ext cx="3206700" cy="9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F2023"/>
                </a:solidFill>
                <a:latin typeface="IBM Plex Sans"/>
                <a:ea typeface="IBM Plex Sans"/>
                <a:cs typeface="IBM Plex Sans"/>
                <a:sym typeface="IBM Plex Sans"/>
              </a:rPr>
              <a:t>Красивые </a:t>
            </a:r>
            <a:r>
              <a:rPr b="1" lang="ru-RU" sz="1600">
                <a:solidFill>
                  <a:srgbClr val="1F20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CLI и HTML</a:t>
            </a:r>
            <a:r>
              <a:rPr lang="ru-RU" sz="1600">
                <a:solidFill>
                  <a:srgbClr val="1F20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отчёты. В HTML версии отчёта есть возможность сортировки и фильтрации для удобства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17417" y="1838556"/>
            <a:ext cx="29529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F2023"/>
                </a:solidFill>
                <a:latin typeface="Roboto"/>
                <a:ea typeface="Roboto"/>
                <a:cs typeface="Roboto"/>
                <a:sym typeface="Roboto"/>
              </a:rPr>
              <a:t>Оптимизация - приоритет. В реализации использована </a:t>
            </a:r>
            <a:r>
              <a:rPr b="1" lang="ru-RU" sz="1600">
                <a:solidFill>
                  <a:srgbClr val="1F2023"/>
                </a:solidFill>
                <a:latin typeface="Roboto"/>
                <a:ea typeface="Roboto"/>
                <a:cs typeface="Roboto"/>
                <a:sym typeface="Roboto"/>
              </a:rPr>
              <a:t>многопоточность</a:t>
            </a:r>
            <a:r>
              <a:rPr lang="ru-RU" sz="1600">
                <a:solidFill>
                  <a:srgbClr val="1F2023"/>
                </a:solidFill>
                <a:latin typeface="Roboto"/>
                <a:ea typeface="Roboto"/>
                <a:cs typeface="Roboto"/>
                <a:sym typeface="Roboto"/>
              </a:rPr>
              <a:t> и механизм </a:t>
            </a:r>
            <a:r>
              <a:rPr b="1" lang="ru-RU" sz="1600">
                <a:solidFill>
                  <a:srgbClr val="1F2023"/>
                </a:solidFill>
                <a:latin typeface="Roboto"/>
                <a:ea typeface="Roboto"/>
                <a:cs typeface="Roboto"/>
                <a:sym typeface="Roboto"/>
              </a:rPr>
              <a:t>кэширования</a:t>
            </a:r>
            <a:r>
              <a:rPr lang="ru-RU" sz="1600">
                <a:solidFill>
                  <a:srgbClr val="1F2023"/>
                </a:solidFill>
                <a:latin typeface="Roboto"/>
                <a:ea typeface="Roboto"/>
                <a:cs typeface="Roboto"/>
                <a:sym typeface="Roboto"/>
              </a:rPr>
              <a:t> - при повторном сканировании код не будет проверять файлы, которые не были изменены</a:t>
            </a:r>
            <a:endParaRPr sz="16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521201" y="1838608"/>
            <a:ext cx="3149700" cy="3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1F2023"/>
                </a:solidFill>
                <a:latin typeface="IBM Plex Sans"/>
                <a:ea typeface="IBM Plex Sans"/>
                <a:cs typeface="IBM Plex Sans"/>
                <a:sym typeface="IBM Plex Sans"/>
              </a:rPr>
              <a:t>Гибкая настройка позволяет указать </a:t>
            </a:r>
            <a:r>
              <a:rPr b="1" lang="ru-RU" sz="1600">
                <a:solidFill>
                  <a:srgbClr val="1F2023"/>
                </a:solidFill>
                <a:latin typeface="IBM Plex Sans"/>
                <a:ea typeface="IBM Plex Sans"/>
                <a:cs typeface="IBM Plex Sans"/>
                <a:sym typeface="IBM Plex Sans"/>
              </a:rPr>
              <a:t>чувствительные директории. </a:t>
            </a:r>
            <a:r>
              <a:rPr lang="ru-RU" sz="1600">
                <a:solidFill>
                  <a:srgbClr val="1F2023"/>
                </a:solidFill>
                <a:latin typeface="IBM Plex Sans"/>
                <a:ea typeface="IBM Plex Sans"/>
                <a:cs typeface="IBM Plex Sans"/>
                <a:sym typeface="IBM Plex Sans"/>
              </a:rPr>
              <a:t>Если секреты будут найдены в этих директориях(например в .env), то критичность найденного секрета будет автоматически повышена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817417" y="4368912"/>
            <a:ext cx="3206751" cy="717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Модульная архитектура</a:t>
            </a:r>
            <a: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 кода позволит любому с лёгкостью дополнять код проекта своими анализаторами, а </a:t>
            </a:r>
            <a:r>
              <a:rPr b="1"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docstings и README</a:t>
            </a:r>
            <a:r>
              <a:rPr lang="ru-RU" sz="1600">
                <a:solidFill>
                  <a:srgbClr val="F4F5F6"/>
                </a:solidFill>
                <a:latin typeface="IBM Plex Sans"/>
                <a:ea typeface="IBM Plex Sans"/>
                <a:cs typeface="IBM Plex Sans"/>
                <a:sym typeface="IBM Plex Sans"/>
              </a:rPr>
              <a:t> помогут им в этом.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13"/>
          <p:cNvSpPr txBox="1"/>
          <p:nvPr>
            <p:ph idx="1" type="body"/>
          </p:nvPr>
        </p:nvSpPr>
        <p:spPr>
          <a:xfrm>
            <a:off x="612043" y="511623"/>
            <a:ext cx="11025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None/>
            </a:pPr>
            <a:r>
              <a:rPr lang="ru-RU"/>
              <a:t>Что есть интересного?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538612" y="5210265"/>
            <a:ext cx="2108200" cy="74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ECEE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28709" t="0"/>
          <a:stretch/>
        </p:blipFill>
        <p:spPr>
          <a:xfrm flipH="1" rot="-5400000">
            <a:off x="8332563" y="3067613"/>
            <a:ext cx="3776950" cy="3803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375" y="1141963"/>
            <a:ext cx="519701" cy="50354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576275" y="358800"/>
            <a:ext cx="78585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023"/>
              </a:buClr>
              <a:buSzPts val="4400"/>
              <a:buFont typeface="IBM Plex Sans"/>
              <a:buNone/>
            </a:pPr>
            <a:r>
              <a:rPr lang="ru-RU">
                <a:solidFill>
                  <a:srgbClr val="1F2023"/>
                </a:solidFill>
              </a:rPr>
              <a:t>Использование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F2023"/>
              </a:buClr>
              <a:buSzPts val="4400"/>
              <a:buNone/>
            </a:pPr>
            <a:r>
              <a:rPr lang="ru-RU">
                <a:solidFill>
                  <a:srgbClr val="1F2023"/>
                </a:solidFill>
              </a:rPr>
              <a:t>      инструмента</a:t>
            </a:r>
            <a:endParaRPr>
              <a:solidFill>
                <a:srgbClr val="1F2023"/>
              </a:solidFill>
            </a:endParaRPr>
          </a:p>
        </p:txBody>
      </p:sp>
      <p:pic>
        <p:nvPicPr>
          <p:cNvPr id="100" name="Google Shape;100;p14" title="qrcod_bQ6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47599" y="3282650"/>
            <a:ext cx="3575349" cy="3575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7375" y="1942248"/>
            <a:ext cx="5401450" cy="50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275" y="2742525"/>
            <a:ext cx="7324600" cy="357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F4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idx="1" type="body"/>
          </p:nvPr>
        </p:nvSpPr>
        <p:spPr>
          <a:xfrm>
            <a:off x="6096002" y="455399"/>
            <a:ext cx="5651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IBM Plex Sans"/>
              <a:buNone/>
            </a:pPr>
            <a:r>
              <a:rPr lang="ru-RU"/>
              <a:t>Основная логика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6096000" y="1205425"/>
            <a:ext cx="4720800" cy="677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144000" spcFirstLastPara="1" rIns="90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Comfortaa"/>
                <a:ea typeface="Comfortaa"/>
                <a:cs typeface="Comfortaa"/>
                <a:sym typeface="Comfortaa"/>
              </a:rPr>
              <a:t>На вход CLI  поступают и парсятся аргументы 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949700" y="1882825"/>
            <a:ext cx="4720800" cy="677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144000" spcFirstLastPara="1" rIns="90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Comfortaa"/>
                <a:ea typeface="Comfortaa"/>
                <a:cs typeface="Comfortaa"/>
                <a:sym typeface="Comfortaa"/>
              </a:rPr>
              <a:t>Формируется пул файлов, из локального или удалённого  repo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096000" y="2560225"/>
            <a:ext cx="4720800" cy="8385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144000" spcFirstLastPara="1" rIns="90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Comfortaa"/>
                <a:ea typeface="Comfortaa"/>
                <a:cs typeface="Comfortaa"/>
                <a:sym typeface="Comfortaa"/>
              </a:rPr>
              <a:t>Формируется пул потоков, все сканнеры(Regex, Entropy и AST) работают параллельно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949700" y="3398725"/>
            <a:ext cx="4720800" cy="10539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144000" spcFirstLastPara="1" rIns="90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Comfortaa"/>
                <a:ea typeface="Comfortaa"/>
                <a:cs typeface="Comfortaa"/>
                <a:sym typeface="Comfortaa"/>
              </a:rPr>
              <a:t>Кэш объектов помогает ускорять программу при повторных запусках - файлы, которые не были изменены, игнорируются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096000" y="4576275"/>
            <a:ext cx="4720800" cy="11757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144000" spcFirstLastPara="1" rIns="90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Comfortaa"/>
                <a:ea typeface="Comfortaa"/>
                <a:cs typeface="Comfortaa"/>
                <a:sym typeface="Comfortaa"/>
              </a:rPr>
              <a:t>Пост-обработка - убираются дубликаты, повышается критичность если секреты найдены в чувствительных папках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949700" y="5751975"/>
            <a:ext cx="4720800" cy="6774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144000" spcFirstLastPara="1" rIns="90000" wrap="square" tIns="144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Comfortaa"/>
                <a:ea typeface="Comfortaa"/>
                <a:cs typeface="Comfortaa"/>
                <a:sym typeface="Comfortaa"/>
              </a:rPr>
              <a:t>Выход - CLI, JSON, HTML отчёты</a:t>
            </a:r>
            <a:endParaRPr sz="16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0F3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644299" y="2007533"/>
            <a:ext cx="8296717" cy="543684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/>
          <p:nvPr/>
        </p:nvSpPr>
        <p:spPr>
          <a:xfrm>
            <a:off x="-1056322" y="2080420"/>
            <a:ext cx="4199700" cy="349800"/>
          </a:xfrm>
          <a:prstGeom prst="roundRect">
            <a:avLst>
              <a:gd fmla="val 50000" name="adj"/>
            </a:avLst>
          </a:prstGeom>
          <a:solidFill>
            <a:srgbClr val="C1EF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FAF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073426" y="1973577"/>
            <a:ext cx="8003660" cy="1455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732"/>
              </a:buClr>
              <a:buSzPts val="2400"/>
              <a:buFont typeface="Arial"/>
              <a:buNone/>
            </a:pPr>
            <a:r>
              <a:rPr lang="ru-RU" sz="2400">
                <a:solidFill>
                  <a:srgbClr val="040732"/>
                </a:solidFill>
                <a:latin typeface="IBM Plex Sans"/>
                <a:ea typeface="IBM Plex Sans"/>
                <a:cs typeface="IBM Plex Sans"/>
                <a:sym typeface="IBM Plex Sans"/>
              </a:rPr>
              <a:t>Docker-образ уже опубликован на Docker Hub. Его можно использовать в CI/CD — например, добавить шаг в GitHub Actions, который будет проверять каждый пулл-реквест.</a:t>
            </a:r>
            <a:endParaRPr sz="2400">
              <a:solidFill>
                <a:srgbClr val="04073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587375" y="995488"/>
            <a:ext cx="5651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IBM Plex Sans"/>
              <a:buNone/>
            </a:pPr>
            <a:r>
              <a:rPr lang="ru-RU"/>
              <a:t>Docker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BF0F3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4644300" y="2007533"/>
            <a:ext cx="8296716" cy="543684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2798603" y="2080420"/>
            <a:ext cx="4199700" cy="349800"/>
          </a:xfrm>
          <a:prstGeom prst="roundRect">
            <a:avLst>
              <a:gd fmla="val 50000" name="adj"/>
            </a:avLst>
          </a:prstGeom>
          <a:solidFill>
            <a:srgbClr val="C1EF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AFAFA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1073426" y="1973577"/>
            <a:ext cx="8003700" cy="14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732"/>
              </a:buClr>
              <a:buSzPts val="2400"/>
              <a:buFont typeface="Arial"/>
              <a:buNone/>
            </a:pPr>
            <a:r>
              <a:rPr lang="ru-RU" sz="2400">
                <a:solidFill>
                  <a:srgbClr val="040732"/>
                </a:solidFill>
                <a:latin typeface="IBM Plex Sans"/>
                <a:ea typeface="IBM Plex Sans"/>
                <a:cs typeface="IBM Plex Sans"/>
                <a:sym typeface="IBM Plex Sans"/>
              </a:rPr>
              <a:t>В планах — поддержка других языков, таких как Go и JavaScript, интеграция с платформами, и использование технологии ML для создания более точных и менее шумных методов поиска секретов. Но и сейчас это полностью рабочий инструмент, который поможет Вам в  безопасной разработке.</a:t>
            </a:r>
            <a:endParaRPr sz="2400">
              <a:solidFill>
                <a:srgbClr val="04073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587375" y="995500"/>
            <a:ext cx="6807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IBM Plex Sans"/>
              <a:buNone/>
            </a:pPr>
            <a:r>
              <a:rPr lang="ru-RU"/>
              <a:t>Перспективы на будущее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FF4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8395476" y="5975076"/>
            <a:ext cx="35223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4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Гресов Константин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8395475" y="6418698"/>
            <a:ext cx="35223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Или же 505</a:t>
            </a:r>
            <a:endParaRPr sz="16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descr="preencoded.png" id="138" name="Google Shape;1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4256" y="1967888"/>
            <a:ext cx="8296716" cy="543684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2067500" y="337850"/>
            <a:ext cx="9543600" cy="14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5100">
                <a:solidFill>
                  <a:srgbClr val="191919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Спасибо за внимание!</a:t>
            </a:r>
            <a:endParaRPr sz="5100">
              <a:solidFill>
                <a:srgbClr val="191919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roc Univer">
  <a:themeElements>
    <a:clrScheme name="Croc Univer">
      <a:dk1>
        <a:srgbClr val="040732"/>
      </a:dk1>
      <a:lt1>
        <a:srgbClr val="FAFAFA"/>
      </a:lt1>
      <a:dk2>
        <a:srgbClr val="040732"/>
      </a:dk2>
      <a:lt2>
        <a:srgbClr val="FAFAFA"/>
      </a:lt2>
      <a:accent1>
        <a:srgbClr val="475DEB"/>
      </a:accent1>
      <a:accent2>
        <a:srgbClr val="57E15E"/>
      </a:accent2>
      <a:accent3>
        <a:srgbClr val="00A460"/>
      </a:accent3>
      <a:accent4>
        <a:srgbClr val="475DEB"/>
      </a:accent4>
      <a:accent5>
        <a:srgbClr val="7027E2"/>
      </a:accent5>
      <a:accent6>
        <a:srgbClr val="3EEF9E"/>
      </a:accent6>
      <a:hlink>
        <a:srgbClr val="FFFFFF"/>
      </a:hlink>
      <a:folHlink>
        <a:srgbClr val="FF64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